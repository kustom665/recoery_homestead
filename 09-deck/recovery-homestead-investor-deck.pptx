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" id="{87a6bfcf-216f-eecd-1634-cbb205f1b0c3}">
          <p14:sldIdLst>
            <p14:sldId id="256"/>
            <p14:sldId id="257"/>
          </p14:sldIdLst>
        </p14:section>
        <p14:section name="The problem and the model" id="{f1a5c772-07ab-b24b-30b8-84005c04dcac}">
          <p14:sldIdLst>
            <p14:sldId id="258"/>
            <p14:sldId id="259"/>
            <p14:sldId id="260"/>
          </p14:sldIdLst>
        </p14:section>
        <p14:section name="The property" id="{5b0da781-e622-17d9-366b-59a51ae7e6ef}">
          <p14:sldIdLst>
            <p14:sldId id="261"/>
            <p14:sldId id="262"/>
          </p14:sldIdLst>
        </p14:section>
        <p14:section name="The numbers" id="{7b2e6221-51c9-74b7-ae6d-0e3cfc825c9c}">
          <p14:sldIdLst>
            <p14:sldId id="263"/>
            <p14:sldId id="264"/>
            <p14:sldId id="265"/>
          </p14:sldIdLst>
        </p14:section>
        <p14:section name="Risk and timeline" id="{f4694744-2ed2-1ed7-a958-f2564094f647}">
          <p14:sldIdLst>
            <p14:sldId id="266"/>
            <p14:sldId id="267"/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Use of funds</c:v>
                </c:pt>
              </c:strCache>
            </c:strRef>
          </c:tx>
          <c:spPr>
            <a:solidFill>
              <a:srgbClr val="2F5D50"/>
            </a:solidFill>
            <a:effectLst/>
          </c:spPr>
          <c:invertIfNegative val="0"/>
          <c:dLbls>
            <c:numFmt formatCode="$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211C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Down payment (25%)</c:v>
                  </c:pt>
                  <c:pt idx="1">
                    <c:v>Rehab to Ch. 717</c:v>
                  </c:pt>
                  <c:pt idx="2">
                    <c:v>Closing</c:v>
                  </c:pt>
                  <c:pt idx="3">
                    <c:v>Beds and furnishing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68750</c:v>
                </c:pt>
                <c:pt idx="1">
                  <c:v>60000</c:v>
                </c:pt>
                <c:pt idx="2">
                  <c:v>6000</c:v>
                </c:pt>
                <c:pt idx="3">
                  <c:v>4000</c:v>
                </c:pt>
              </c:numCache>
            </c:numRef>
          </c:val>
        </c:ser>
        <c:dLbls>
          <c:numFmt formatCode="$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B211C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B211C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000"/>
          <c:min val="0"/>
        </c:scaling>
        <c:delete val="0"/>
        <c:axPos val="b"/>
        <c:majorGridlines>
          <c:spPr>
            <a:ln w="6350" cap="flat">
              <a:solidFill>
                <a:srgbClr val="E3EADD"/>
              </a:solidFill>
              <a:prstDash val="solid"/>
              <a:round/>
            </a:ln>
          </c:spPr>
        </c:majorGridlines>
        <c:numFmt formatCode="$#,##0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7C8A7E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Net resident revenue</c:v>
                </c:pt>
              </c:strCache>
            </c:strRef>
          </c:tx>
          <c:spPr>
            <a:solidFill>
              <a:srgbClr val="2F5D50"/>
            </a:solidFill>
            <a:effectLst/>
          </c:spPr>
          <c:invertIfNegative val="0"/>
          <c:dLbls>
            <c:numFmt formatCode="$#,##0" sourceLinked="0"/>
            <c:txPr>
              <a:bodyPr/>
              <a:lstStyle/>
              <a:p>
                <a:pPr>
                  <a:defRPr b="0" i="0" strike="noStrike" sz="1050" u="none">
                    <a:solidFill>
                      <a:srgbClr val="1B211C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Low case</c:v>
                  </c:pt>
                  <c:pt idx="1">
                    <c:v>High case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5215</c:v>
                </c:pt>
                <c:pt idx="1">
                  <c:v>6290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Total monthly cost</c:v>
                </c:pt>
              </c:strCache>
            </c:strRef>
          </c:tx>
          <c:spPr>
            <a:solidFill>
              <a:srgbClr val="B7BCB0"/>
            </a:solidFill>
            <a:effectLst/>
          </c:spPr>
          <c:invertIfNegative val="0"/>
          <c:dLbls>
            <c:numFmt formatCode="$#,##0" sourceLinked="0"/>
            <c:txPr>
              <a:bodyPr/>
              <a:lstStyle/>
              <a:p>
                <a:pPr>
                  <a:defRPr b="0" i="0" strike="noStrike" sz="1050" u="none">
                    <a:solidFill>
                      <a:srgbClr val="1B211C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Low case</c:v>
                  </c:pt>
                  <c:pt idx="1">
                    <c:v>High case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3890</c:v>
                </c:pt>
                <c:pt idx="1">
                  <c:v>5240</c:v>
                </c:pt>
              </c:numCache>
            </c:numRef>
          </c:val>
        </c:ser>
        <c:dLbls>
          <c:numFmt formatCode="$#,##0" sourceLinked="0"/>
          <c:txPr>
            <a:bodyPr/>
            <a:lstStyle/>
            <a:p>
              <a:pPr>
                <a:defRPr b="0" i="0" strike="noStrike" sz="1050" u="none">
                  <a:solidFill>
                    <a:srgbClr val="1B211C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B211C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000"/>
          <c:min val="0"/>
        </c:scaling>
        <c:delete val="0"/>
        <c:axPos val="l"/>
        <c:majorGridlines>
          <c:spPr>
            <a:ln w="6350" cap="flat">
              <a:solidFill>
                <a:srgbClr val="E3EADD"/>
              </a:solidFill>
              <a:prstDash val="solid"/>
              <a:round/>
            </a:ln>
          </c:spPr>
        </c:majorGridlines>
        <c:numFmt formatCode="$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7C8A7E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1B211C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on the one-line thesis. The house we run today proves the model; the farm is what the money buys. Keep this under 30 seconds.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the number once and do not apologize for it. Then point at the three rows. The deal is on slide 10; do not negotiate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Pull the current county figure for wherever the property is before the meeting. OverdoseFreePA has it by county. The 400-houses number is DDAP's own.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is the whole deck. An investor is lending against these eight numbers, not against the farm story. If any blank is still blank, do not take the meeting.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point of the left card: the most famous program of this kind runs on someone else's land. We are not asking for money to copy a model; we are asking for money to own what that model rents.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822 figure is DCED's. An investor who owns rural PA property will know what a zoning hearing costs in time. Lead with that.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the three in the repo land file. By the meeting, replace with whichever is under agreement. The Granville Summit house is the one to chase: eight bedrooms is the whole business case.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Rehab is the only line that moves. Get a contractor through the house before the meeting and replace $60,000 with the bid.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cost bars already include the mortgage. Net after everything is $1,050 to $1,325 — and Structure A's interest-only payment is $1,043, so at ten beds the investor is covered with almost nothing to spare. Say that before they do. The eleventh and twelfth beds are the cushion: $520 to $630 a month each. Farm revenue, Harvest Hosts hosting, and grants to the nonprofit arm are upside, not in these bars.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pick for them. Structure A is what a private lender wants; Structure B is what a seller who loves the farm wants. The 9% in A is a proposal — the market for private second-lien money is 9 to 12. Say 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Investors trust the deck that names its own kill condition. Say the month-four number out loud.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it left to right. The first two markers are the only ones we control alone; the rest depend on the census.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asking for the site visit, not the money. An investor who has stood in the house we run will fund the farm.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17320"/>
            <a:ext cx="804672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017520"/>
            <a:ext cx="731520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accent6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47472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1234440"/>
            <a:ext cx="8229600" cy="3383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50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1500" dirty="0"/>
          </a:p>
        </p:txBody>
      </p:sp>
      <p:sp>
        <p:nvSpPr>
          <p:cNvPr id="4" name="Text 0"/>
          <p:cNvSpPr/>
          <p:nvPr/>
        </p:nvSpPr>
        <p:spPr>
          <a:xfrm>
            <a:off x="457200" y="475488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chemeClr val="accent3"/>
                </a:solidFill>
              </a:rPr>
              <a:t>Nye Recovery LLC   ·   Proposed terms, not an offer   ·   Confidential</a:t>
            </a:r>
            <a:endParaRPr lang="en-US" sz="9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17320"/>
            <a:ext cx="8046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Recovery Homestead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01752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A licensed recovery house becomes a working farm.</a:t>
            </a:r>
            <a:endParaRPr lang="en-US" sz="1800" dirty="0"/>
          </a:p>
          <a:p>
            <a:pPr algn="l"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Investor and seller-finance brief  ·  Rob Nye  ·  Nye Recovery LLC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48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chemeClr val="accent5"/>
                </a:solidFill>
              </a:rPr>
              <a:t>RURAL PENNSYLVANIA  ·  2027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4747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The ask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3444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chemeClr val="tx2"/>
                </a:solidFill>
              </a:rPr>
              <a:t>$120–160K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89280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accent3"/>
                </a:solidFill>
              </a:rPr>
              <a:t>Cash to acquire and open a 28–54 acre farm property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51460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Secured by the property. Two structures on slide 10. Proceeds buy the land, the closing, the rehab, and the beds — nothing else.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846320" y="1280160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46904" y="1380744"/>
            <a:ext cx="219456" cy="219456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431536" y="1261872"/>
            <a:ext cx="3255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Buys a licensable farmhouse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5431536" y="1536192"/>
            <a:ext cx="32552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An 8-bedroom 1876 farmhouse licenses to 10–14 beds under 28 Pa. Code § 717.29 with no new construction.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846320" y="2331720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6904" y="2432304"/>
            <a:ext cx="219456" cy="219456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431536" y="2313432"/>
            <a:ext cx="3255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In an unzoned township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5431536" y="2587752"/>
            <a:ext cx="32552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Wyoming and Bradford counties: no county zoning, no variance, no hearing. The FHA stands behind it regardless.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4846320" y="3383280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6904" y="3483864"/>
            <a:ext cx="219456" cy="219456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5431536" y="3364992"/>
            <a:ext cx="3255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Backed by a running house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5431536" y="3639312"/>
            <a:ext cx="32552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Not a plan. The leased six-to-eight bed house we operate today, with its license and its census, is the collateral's track record.</a:t>
            </a:r>
            <a:endParaRPr lang="en-US" sz="1250" dirty="0"/>
          </a:p>
        </p:txBody>
      </p:sp>
      <p:sp>
        <p:nvSpPr>
          <p:cNvPr id="19" name="Text 0"/>
          <p:cNvSpPr/>
          <p:nvPr>
            <p:ph idx="101" type="body" hasCustomPrompt="1"/>
          </p:nvPr>
        </p:nvSpPr>
        <p:spPr>
          <a:xfrm>
            <a:off x="457200" y="1234440"/>
            <a:ext cx="82296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4747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Detox discharges people to nowhere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8016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chemeClr val="tx2"/>
                </a:solidFill>
              </a:rPr>
              <a:t>~35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938528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accent3"/>
                </a:solidFill>
              </a:rPr>
              <a:t>overdose deaths per 100,000 — Fayette County, highest in PA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3291840" y="128016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chemeClr val="tx2"/>
                </a:solidFill>
              </a:rPr>
              <a:t>~400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3291840" y="1938528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accent3"/>
                </a:solidFill>
              </a:rPr>
              <a:t>DDAP-licensed recovery houses statewide. They are full.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6126480" y="128016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chemeClr val="tx2"/>
                </a:solidFill>
              </a:rPr>
              <a:t>6 mo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6126480" y="1938528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accent3"/>
                </a:solidFill>
              </a:rPr>
              <a:t>what the evidence says recovery housing needs to hold. Most programs offer 28 days.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57200" y="2743200"/>
            <a:ext cx="8229600" cy="12801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2880360"/>
            <a:ext cx="7680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The gap is not treatment. It is where people go after it.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Pennsylvania has detox and 28-day beds. What it is short of is a structured place to live for the six months after — long enough for the acute period to pass and habits to form. Single County Authorities say it plainly: there is nowhere to send men who need six months. That is the bed we sell.</a:t>
            </a:r>
            <a:endParaRPr lang="en-US" sz="1500" dirty="0"/>
          </a:p>
        </p:txBody>
      </p:sp>
      <p:sp>
        <p:nvSpPr>
          <p:cNvPr id="12" name="Text 0"/>
          <p:cNvSpPr/>
          <p:nvPr>
            <p:ph idx="101" type="body" hasCustomPrompt="1"/>
          </p:nvPr>
        </p:nvSpPr>
        <p:spPr>
          <a:xfrm>
            <a:off x="457200" y="1234440"/>
            <a:ext cx="82296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4747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What we run today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88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2"/>
                </a:solidFill>
              </a:rPr>
              <a:t>Fill in at month six, before the first investor meeting. Every blank below is a number we will have.</a:t>
            </a:r>
            <a:endParaRPr lang="en-US" sz="11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00200"/>
          <a:ext cx="8229600" cy="914400"/>
        </p:xfrm>
        <a:graphic>
          <a:graphicData uri="http://schemas.openxmlformats.org/drawingml/2006/table">
            <a:tbl>
              <a:tblPr/>
              <a:tblGrid>
                <a:gridCol w="5120640"/>
                <a:gridCol w="310896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Opened</a:t>
                      </a:r>
                      <a:endParaRPr lang="en-US" sz="13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73152" marR="73152" marT="27432" marB="27432">
                    <a:lnL w="9525" cap="flat" cmpd="sng" algn="ctr">
                      <a:solidFill>
                        <a:srgbClr val="E3E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——  2027</a:t>
                      </a:r>
                      <a:endParaRPr lang="en-US" sz="13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73152" marR="73152" marT="27432" marB="27432">
                    <a:lnL w="9525" cap="flat" cmpd="sng" algn="ctr">
                      <a:solidFill>
                        <a:srgbClr val="E3E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Residents today / capacity</a:t>
                      </a:r>
                      <a:endParaRPr lang="en-US" sz="13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73152" marR="73152" marT="27432" marB="27432">
                    <a:lnL w="9525" cap="flat" cmpd="sng" algn="ctr">
                      <a:solidFill>
                        <a:srgbClr val="E3E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——  of 8</a:t>
                      </a:r>
                      <a:endParaRPr lang="en-US" sz="13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73152" marR="73152" marT="27432" marB="27432">
                    <a:lnL w="9525" cap="flat" cmpd="sng" algn="ctr">
                      <a:solidFill>
                        <a:srgbClr val="E3E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DDAP license</a:t>
                      </a:r>
                      <a:endParaRPr lang="en-US" sz="13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73152" marR="73152" marT="27432" marB="27432">
                    <a:lnL w="9525" cap="flat" cmpd="sng" algn="ctr">
                      <a:solidFill>
                        <a:srgbClr val="E3E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No. ——  issued ——</a:t>
                      </a:r>
                      <a:endParaRPr lang="en-US" sz="13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73152" marR="73152" marT="27432" marB="27432">
                    <a:lnL w="9525" cap="flat" cmpd="sng" algn="ctr">
                      <a:solidFill>
                        <a:srgbClr val="E3E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Months at or above breakeven (5 residents)</a:t>
                      </a:r>
                      <a:endParaRPr lang="en-US" sz="13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73152" marR="73152" marT="27432" marB="27432">
                    <a:lnL w="9525" cap="flat" cmpd="sng" algn="ctr">
                      <a:solidFill>
                        <a:srgbClr val="E3E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——</a:t>
                      </a:r>
                      <a:endParaRPr lang="en-US" sz="13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73152" marR="73152" marT="27432" marB="27432">
                    <a:lnL w="9525" cap="flat" cmpd="sng" algn="ctr">
                      <a:solidFill>
                        <a:srgbClr val="E3E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Collection rate</a:t>
                      </a:r>
                      <a:endParaRPr lang="en-US" sz="13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73152" marR="73152" marT="27432" marB="27432">
                    <a:lnL w="9525" cap="flat" cmpd="sng" algn="ctr">
                      <a:solidFill>
                        <a:srgbClr val="E3E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——%</a:t>
                      </a:r>
                      <a:endParaRPr lang="en-US" sz="13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73152" marR="73152" marT="27432" marB="27432">
                    <a:lnL w="9525" cap="flat" cmpd="sng" algn="ctr">
                      <a:solidFill>
                        <a:srgbClr val="E3E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SCA referral relationship</a:t>
                      </a:r>
                      <a:endParaRPr lang="en-US" sz="13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73152" marR="73152" marT="27432" marB="27432">
                    <a:lnL w="9525" cap="flat" cmpd="sng" algn="ctr">
                      <a:solidFill>
                        <a:srgbClr val="E3E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——  county, since ——</a:t>
                      </a:r>
                      <a:endParaRPr lang="en-US" sz="13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73152" marR="73152" marT="27432" marB="27432">
                    <a:lnL w="9525" cap="flat" cmpd="sng" algn="ctr">
                      <a:solidFill>
                        <a:srgbClr val="E3E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Incidents requiring emergency response</a:t>
                      </a:r>
                      <a:endParaRPr lang="en-US" sz="13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73152" marR="73152" marT="27432" marB="27432">
                    <a:lnL w="9525" cap="flat" cmpd="sng" algn="ctr">
                      <a:solidFill>
                        <a:srgbClr val="E3E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——</a:t>
                      </a:r>
                      <a:endParaRPr lang="en-US" sz="13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73152" marR="73152" marT="27432" marB="27432">
                    <a:lnL w="9525" cap="flat" cmpd="sng" algn="ctr">
                      <a:solidFill>
                        <a:srgbClr val="E3E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Live-in house manager</a:t>
                      </a:r>
                      <a:endParaRPr lang="en-US" sz="13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73152" marR="73152" marT="27432" marB="27432">
                    <a:lnL w="9525" cap="flat" cmpd="sng" algn="ctr">
                      <a:solidFill>
                        <a:srgbClr val="E3E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——, ——  years in recovery</a:t>
                      </a:r>
                      <a:endParaRPr lang="en-US" sz="13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73152" marR="73152" marT="27432" marB="27432">
                    <a:lnL w="9525" cap="flat" cmpd="sng" algn="ctr">
                      <a:solidFill>
                        <a:srgbClr val="E3E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0"/>
          <p:cNvSpPr/>
          <p:nvPr>
            <p:ph idx="101" type="body" hasCustomPrompt="1"/>
          </p:nvPr>
        </p:nvSpPr>
        <p:spPr>
          <a:xfrm>
            <a:off x="457200" y="1234440"/>
            <a:ext cx="82296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4747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The model we are copying never bought land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3931920" cy="3017520"/>
          </a:xfrm>
          <a:prstGeom prst="roundRect">
            <a:avLst>
              <a:gd name="adj" fmla="val 24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371600"/>
            <a:ext cx="3474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Jacob's Ladder at Brookside Farm</a:t>
            </a:r>
            <a:endParaRPr lang="en-US" sz="1600" dirty="0"/>
          </a:p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Aurora, West Virginia — the program in the 2018 documentary Recovery Boys.</a:t>
            </a:r>
            <a:endParaRPr lang="en-US" sz="1600" dirty="0"/>
          </a:p>
          <a:p>
            <a:pPr indent="0" marL="0">
              <a:buNone/>
            </a:pPr>
            <a:r>
              <a:rPr lang="en-US" sz="600" dirty="0">
                <a:solidFill>
                  <a:schemeClr val="tx1"/>
                </a:solidFill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Six months residential, men. Daily farm work, mindfulness, 12-step, chores, structured community.</a:t>
            </a:r>
            <a:endParaRPr lang="en-US" sz="1600" dirty="0"/>
          </a:p>
          <a:p>
            <a:pPr indent="0" marL="0">
              <a:buNone/>
            </a:pPr>
            <a:r>
              <a:rPr lang="en-US" sz="600" dirty="0">
                <a:solidFill>
                  <a:schemeClr val="tx1"/>
                </a:solidFill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The farm is owned by the Utterback family. The program partners with them. It has never carried a mortgage.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846320" y="1325880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46904" y="1426464"/>
            <a:ext cx="219456" cy="21945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31536" y="1307592"/>
            <a:ext cx="3255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Year one — lease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5431536" y="1581912"/>
            <a:ext cx="32552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Six to eight beds in a leased house. License it. Fill it. This is done before anyone is asked for money.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846320" y="2377440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6904" y="2478024"/>
            <a:ext cx="219456" cy="219456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431536" y="2359152"/>
            <a:ext cx="3255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Year two — own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5431536" y="2633472"/>
            <a:ext cx="32552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Buy the farmhouse with the ask on slide 2. Move the licensed house onto it. 10–14 beds.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4846320" y="3429000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6904" y="3529584"/>
            <a:ext cx="219456" cy="219456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5431536" y="3410712"/>
            <a:ext cx="3255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Year three — farm</a:t>
            </a:r>
            <a:endParaRPr lang="en-US" sz="1500" dirty="0"/>
          </a:p>
        </p:txBody>
      </p:sp>
      <p:sp>
        <p:nvSpPr>
          <p:cNvPr id="16" name="Text 11"/>
          <p:cNvSpPr txBox="1"/>
          <p:nvPr/>
        </p:nvSpPr>
        <p:spPr>
          <a:xfrm>
            <a:off x="5431536" y="3685032"/>
            <a:ext cx="32552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Cottages, greenhouses, livestock. Grants to a nonprofit arm, which by then has a two-year record.</a:t>
            </a:r>
            <a:endParaRPr lang="en-US" sz="1250" dirty="0"/>
          </a:p>
        </p:txBody>
      </p:sp>
      <p:sp>
        <p:nvSpPr>
          <p:cNvPr id="18" name="Text 0"/>
          <p:cNvSpPr/>
          <p:nvPr>
            <p:ph idx="101" type="body" hasCustomPrompt="1"/>
          </p:nvPr>
        </p:nvSpPr>
        <p:spPr>
          <a:xfrm>
            <a:off x="457200" y="1234440"/>
            <a:ext cx="82296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4747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Build where there is no hearing to survive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8016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chemeClr val="tx2"/>
                </a:solidFill>
              </a:rPr>
              <a:t>822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938528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accent3"/>
                </a:solidFill>
              </a:rPr>
              <a:t>Pennsylvania municipalities with no zoning ordinance at all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3291840" y="128016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chemeClr val="tx2"/>
                </a:solidFill>
              </a:rPr>
              <a:t>34%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3291840" y="1938528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accent3"/>
                </a:solidFill>
              </a:rPr>
              <a:t>of rural PA municipalities are zoned. Southeast PA: 99%.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6126480" y="128016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chemeClr val="tx2"/>
                </a:solidFill>
              </a:rPr>
              <a:t>0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6126480" y="1938528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accent3"/>
                </a:solidFill>
              </a:rPr>
              <a:t>county zoning ordinances in Wyoming County. Meshoppen Twp is unzoned.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57200" y="2834640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" y="2935224"/>
            <a:ext cx="219456" cy="219456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1042416" y="2816352"/>
            <a:ext cx="3346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No variance, no neighbor petition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1042416" y="3090672"/>
            <a:ext cx="33467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Unzoned means by-right. The state building code and DEP sewage rules still apply; the political fight does not exist.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4754880" y="2834640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5464" y="2935224"/>
            <a:ext cx="219456" cy="219456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5340096" y="2816352"/>
            <a:ext cx="3346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The Fair Housing Act is the backstop</a:t>
            </a:r>
            <a:endParaRPr lang="en-US" sz="1500" dirty="0"/>
          </a:p>
        </p:txBody>
      </p:sp>
      <p:sp>
        <p:nvSpPr>
          <p:cNvPr id="16" name="Text 12"/>
          <p:cNvSpPr txBox="1"/>
          <p:nvPr/>
        </p:nvSpPr>
        <p:spPr>
          <a:xfrm>
            <a:off x="5340096" y="3090672"/>
            <a:ext cx="33467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People in recovery are a protected class. U.S. v. Township of Cheltenham; Janush v. Upper Southampton. A township that refuses pays.</a:t>
            </a:r>
            <a:endParaRPr lang="en-US" sz="1250" dirty="0"/>
          </a:p>
        </p:txBody>
      </p:sp>
      <p:sp>
        <p:nvSpPr>
          <p:cNvPr id="18" name="Text 0"/>
          <p:cNvSpPr/>
          <p:nvPr>
            <p:ph idx="101" type="body" hasCustomPrompt="1"/>
          </p:nvPr>
        </p:nvSpPr>
        <p:spPr>
          <a:xfrm>
            <a:off x="457200" y="1234440"/>
            <a:ext cx="82296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4747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Three live comparables, October 2026</a:t>
            </a:r>
            <a:endParaRPr lang="en-US" sz="3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822960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548640"/>
                <a:gridCol w="2194560"/>
                <a:gridCol w="868680"/>
                <a:gridCol w="1417320"/>
                <a:gridCol w="146304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Property</a:t>
                      </a:r>
                      <a:endParaRPr lang="en-US" sz="11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E3E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D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Acres</a:t>
                      </a:r>
                      <a:endParaRPr lang="en-US" sz="11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E3E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D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Structures</a:t>
                      </a:r>
                      <a:endParaRPr lang="en-US" sz="11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E3E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D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Asking</a:t>
                      </a:r>
                      <a:endParaRPr lang="en-US" sz="11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E3E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D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Zoning</a:t>
                      </a:r>
                      <a:endParaRPr lang="en-US" sz="11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E3E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D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Fit</a:t>
                      </a:r>
                      <a:endParaRPr lang="en-US" sz="11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E3E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D50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tx1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Meshoppen, Wyoming Co.</a:t>
                      </a:r>
                      <a:endParaRPr lang="en-US" sz="11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E3E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54</a:t>
                      </a:r>
                      <a:endParaRPr lang="en-US" sz="11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E3E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Farmhouse + barn, both need work</a:t>
                      </a:r>
                      <a:endParaRPr lang="en-US" sz="11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E3E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$275,000</a:t>
                      </a:r>
                      <a:endParaRPr lang="en-US" sz="11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E3E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Township unzoned; no county zoning</a:t>
                      </a:r>
                      <a:endParaRPr lang="en-US" sz="11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E3E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Best price per acre. Rehab is the question.</a:t>
                      </a:r>
                      <a:endParaRPr lang="en-US" sz="11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E3E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tx1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Granville Summit, Bradford Co.</a:t>
                      </a:r>
                      <a:endParaRPr lang="en-US" sz="11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E3E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28</a:t>
                      </a:r>
                      <a:endParaRPr lang="en-US" sz="11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E3E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1876 farmhouse, 8 bed / 2 bath, 3,431 sq ft, barn, silos</a:t>
                      </a:r>
                      <a:endParaRPr lang="en-US" sz="11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E3E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Not shown</a:t>
                      </a:r>
                      <a:endParaRPr lang="en-US" sz="11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E3E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Verify township</a:t>
                      </a:r>
                      <a:endParaRPr lang="en-US" sz="11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E3E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8 bedrooms = 10–14 beds licensed on day one.</a:t>
                      </a:r>
                      <a:endParaRPr lang="en-US" sz="11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E3E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tx1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Rome, Bradford Co.</a:t>
                      </a:r>
                      <a:endParaRPr lang="en-US" sz="11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E3E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30.5</a:t>
                      </a:r>
                      <a:endParaRPr lang="en-US" sz="11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E3E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Barn, corn cribs, stream. No house.</a:t>
                      </a:r>
                      <a:endParaRPr lang="en-US" sz="11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E3E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$175,000</a:t>
                      </a:r>
                      <a:endParaRPr lang="en-US" sz="11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E3E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Verify township</a:t>
                      </a:r>
                      <a:endParaRPr lang="en-US" sz="11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E3E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Cheapest acreage. Needs a house built.</a:t>
                      </a:r>
                      <a:endParaRPr lang="en-US" sz="11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E3E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3794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chemeClr val="accent3"/>
                </a:solidFill>
              </a:rPr>
              <a:t>Asking prices as listed; none has had a perc test, title search, or Clean &amp; Green check. Every parcel runs the four kill tests in the land file before an offer. Listings go stale in days.</a:t>
            </a:r>
            <a:endParaRPr lang="en-US" sz="1050" dirty="0"/>
          </a:p>
        </p:txBody>
      </p:sp>
      <p:sp>
        <p:nvSpPr>
          <p:cNvPr id="6" name="Text 0"/>
          <p:cNvSpPr/>
          <p:nvPr>
            <p:ph idx="101" type="body" hasCustomPrompt="1"/>
          </p:nvPr>
        </p:nvSpPr>
        <p:spPr>
          <a:xfrm>
            <a:off x="457200" y="1234440"/>
            <a:ext cx="82296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4747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Where $139K goes</a:t>
            </a:r>
            <a:endParaRPr lang="en-US" sz="3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234440"/>
          <a:ext cx="512064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943600" y="128016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$138,750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5943600" y="193852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accent3"/>
                </a:solidFill>
              </a:rPr>
              <a:t>midpoint of the $119–159K range. Rehab is the swing: $40–80K until a contractor walks the house.</a:t>
            </a:r>
            <a:endParaRPr lang="en-US" sz="1150" dirty="0"/>
          </a:p>
        </p:txBody>
      </p:sp>
      <p:sp>
        <p:nvSpPr>
          <p:cNvPr id="6" name="Text 3"/>
          <p:cNvSpPr txBox="1"/>
          <p:nvPr/>
        </p:nvSpPr>
        <p:spPr>
          <a:xfrm>
            <a:off x="5943600" y="2743200"/>
            <a:ext cx="2743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Based on the Meshoppen comparable at $275,000.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Down payment assumes a 75% LTV first mortgage or seller carry on the balance.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Rehab is to the § 717.29 standard — egress, 60 sq ft per resident, water under 120°F — not to a magazine.</a:t>
            </a:r>
            <a:endParaRPr lang="en-US" sz="1100" dirty="0"/>
          </a:p>
        </p:txBody>
      </p:sp>
      <p:sp>
        <p:nvSpPr>
          <p:cNvPr id="8" name="Text 0"/>
          <p:cNvSpPr/>
          <p:nvPr>
            <p:ph idx="101" type="body" hasCustomPrompt="1"/>
          </p:nvPr>
        </p:nvSpPr>
        <p:spPr>
          <a:xfrm>
            <a:off x="457200" y="1234440"/>
            <a:ext cx="82296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4747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Ten beds carry the house</a:t>
            </a:r>
            <a:endParaRPr lang="en-US" sz="3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234440"/>
          <a:ext cx="484632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669280" y="128016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$1,050–1,325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5669280" y="1938528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accent3"/>
                </a:solidFill>
              </a:rPr>
              <a:t>net per month at 10 beds, after the mortgage and before the investor is paid.</a:t>
            </a:r>
            <a:endParaRPr lang="en-US" sz="1150" dirty="0"/>
          </a:p>
        </p:txBody>
      </p:sp>
      <p:sp>
        <p:nvSpPr>
          <p:cNvPr id="6" name="Text 3"/>
          <p:cNvSpPr txBox="1"/>
          <p:nvPr/>
        </p:nvSpPr>
        <p:spPr>
          <a:xfrm>
            <a:off x="5669280" y="2651760"/>
            <a:ext cx="301752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chemeClr val="tx1"/>
                </a:solidFill>
              </a:rPr>
              <a:t>Revenue: 10 beds at $145–$175/week, less a 17% collection haircut. Comps: Just4Today $145, Cifelli $140, R3 Lancaster $195.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chemeClr val="tx1"/>
                </a:solidFill>
              </a:rPr>
              <a:t>Cost includes the $206K mortgage at 7.5%/30 yr ($1,440), taxes, insurance, utilities, a live-in manager, and a maintenance reserve.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b="1" dirty="0">
                <a:solidFill>
                  <a:schemeClr val="tx1"/>
                </a:solidFill>
              </a:rPr>
              <a:t>Breakeven is 8–9 beds. Structure A's $1,043/mo interest leaves $7–282 at 10 beds; beds 11 and 12 add $520–630 each. The house we run today is the proof the fill rate holds.</a:t>
            </a:r>
            <a:endParaRPr lang="en-US" sz="1050" dirty="0"/>
          </a:p>
        </p:txBody>
      </p:sp>
      <p:sp>
        <p:nvSpPr>
          <p:cNvPr id="8" name="Text 0"/>
          <p:cNvSpPr/>
          <p:nvPr>
            <p:ph idx="101" type="body" hasCustomPrompt="1"/>
          </p:nvPr>
        </p:nvSpPr>
        <p:spPr>
          <a:xfrm>
            <a:off x="457200" y="1234440"/>
            <a:ext cx="82296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4747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Two ways to structure it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3977640" cy="3017520"/>
          </a:xfrm>
          <a:prstGeom prst="roundRect">
            <a:avLst>
              <a:gd name="adj" fmla="val 24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709160" y="1234440"/>
            <a:ext cx="3977640" cy="3017520"/>
          </a:xfrm>
          <a:prstGeom prst="roundRect">
            <a:avLst>
              <a:gd name="adj" fmla="val 24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371600"/>
            <a:ext cx="35204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A — Seller carries, investor opens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500" dirty="0">
                <a:solidFill>
                  <a:schemeClr val="tx1"/>
                </a:solidFill>
              </a:rPr>
              <a:t> 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Seller finances $206K at 7.5% over 30 years.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Investor lends $139K for down payment, closing, rehab, beds.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Interest-only at 9% for 5 years — $1,043/mo — balloon at year 5. Covered at 10 beds; cushioned at 12.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Second lien on the property plus personal guarantee.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Exit: refinance into a USDA Community Facilities loan once the nonprofit arm has a two-year record, or sale.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937760" y="1371600"/>
            <a:ext cx="35204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B — Investor owns, we operate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500" dirty="0">
                <a:solidFill>
                  <a:schemeClr val="tx1"/>
                </a:solidFill>
              </a:rPr>
              <a:t> 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Investor buys the property outright — the Brookside structure.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Nye Recovery LLC leases it at a rate that covers the investor's debt service plus a margin.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Option to purchase at year 5 at appraised value.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Rehab funded from operations and settlement grants to the nonprofit arm.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Investor holds title throughout. Lowest risk to them; slowest equity for us.</a:t>
            </a:r>
            <a:endParaRPr lang="en-US" sz="1200" dirty="0"/>
          </a:p>
        </p:txBody>
      </p:sp>
      <p:sp>
        <p:nvSpPr>
          <p:cNvPr id="8" name="Text 0"/>
          <p:cNvSpPr/>
          <p:nvPr>
            <p:ph idx="101" type="body" hasCustomPrompt="1"/>
          </p:nvPr>
        </p:nvSpPr>
        <p:spPr>
          <a:xfrm>
            <a:off x="457200" y="1234440"/>
            <a:ext cx="82296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4747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What goes wrong, and what we do first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" y="1380744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042416" y="1261872"/>
            <a:ext cx="7644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No credible house manager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1042416" y="1536192"/>
            <a:ext cx="76443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This business is the person living in it. Mitigation: the manager is hired and running the leased house for six months before this ask. Their name is on slide 4.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457200" y="2331720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" y="2432304"/>
            <a:ext cx="219456" cy="219456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042416" y="2313432"/>
            <a:ext cx="7644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The township pushes back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1042416" y="2587752"/>
            <a:ext cx="76443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Mitigation: buy unzoned. Where that fails, the FHA reasonable-accommodation letter goes to the township the day the lease is signed — before a complaint, not after.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457200" y="3383280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784" y="3483864"/>
            <a:ext cx="219456" cy="219456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042416" y="3364992"/>
            <a:ext cx="7644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The house sits under nine beds</a:t>
            </a:r>
            <a:endParaRPr lang="en-US" sz="1500" dirty="0"/>
          </a:p>
        </p:txBody>
      </p:sp>
      <p:sp>
        <p:nvSpPr>
          <p:cNvPr id="14" name="Text 9"/>
          <p:cNvSpPr txBox="1"/>
          <p:nvPr/>
        </p:nvSpPr>
        <p:spPr>
          <a:xfrm>
            <a:off x="1042416" y="3639312"/>
            <a:ext cx="76443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Mitigation: breakeven is eight to nine beds, not fourteen. The leased house's fill curve is the forecast. If month four is under four residents, we do not come to this meeting.</a:t>
            </a:r>
            <a:endParaRPr lang="en-US" sz="1200" dirty="0"/>
          </a:p>
        </p:txBody>
      </p:sp>
      <p:sp>
        <p:nvSpPr>
          <p:cNvPr id="16" name="Text 0"/>
          <p:cNvSpPr/>
          <p:nvPr>
            <p:ph idx="101" type="body" hasCustomPrompt="1"/>
          </p:nvPr>
        </p:nvSpPr>
        <p:spPr>
          <a:xfrm>
            <a:off x="457200" y="1234440"/>
            <a:ext cx="82296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4747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From the house we have to the farm we want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783080"/>
            <a:ext cx="1280160" cy="502920"/>
          </a:xfrm>
          <a:prstGeom prst="roundRect">
            <a:avLst>
              <a:gd name="adj" fmla="val 10909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78308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Now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423160"/>
            <a:ext cx="1280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Leased 6–8 bed house open, private-pay, DDAP application filed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1847088" y="1783080"/>
            <a:ext cx="1280160" cy="502920"/>
          </a:xfrm>
          <a:prstGeom prst="roundRect">
            <a:avLst>
              <a:gd name="adj" fmla="val 10909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847088" y="178308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Month 6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847088" y="2423160"/>
            <a:ext cx="1280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License issued. Six residents. SCA referring. This deck is current.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36976" y="1783080"/>
            <a:ext cx="1280160" cy="50292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236976" y="178308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Month 9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3236976" y="2423160"/>
            <a:ext cx="1280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Property under agreement. Perc, title, Clean &amp; Green cleared. Close with this raise.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626864" y="1783080"/>
            <a:ext cx="1280160" cy="50292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626864" y="178308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Month 12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4626864" y="2423160"/>
            <a:ext cx="1280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Licensed house moves to the farm. 10 beds.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016752" y="1783080"/>
            <a:ext cx="1280160" cy="50292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016752" y="178308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Month 18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016752" y="2423160"/>
            <a:ext cx="1280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Nonprofit arm formed. First settlement grant. Farm producing.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406640" y="1783080"/>
            <a:ext cx="1280160" cy="50292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406640" y="178308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Year 3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7406640" y="2423160"/>
            <a:ext cx="1280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Cottages. USDA refinance. Investor exit.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3520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3"/>
                </a:solidFill>
              </a:rPr>
              <a:t>Dark markers are done or in motion today. Everything after month 6 waits on the house hitting its numbers.</a:t>
            </a:r>
            <a:endParaRPr lang="en-US" sz="1100" dirty="0"/>
          </a:p>
        </p:txBody>
      </p:sp>
      <p:sp>
        <p:nvSpPr>
          <p:cNvPr id="23" name="Text 0"/>
          <p:cNvSpPr/>
          <p:nvPr>
            <p:ph idx="101" type="body" hasCustomPrompt="1"/>
          </p:nvPr>
        </p:nvSpPr>
        <p:spPr>
          <a:xfrm>
            <a:off x="457200" y="1234440"/>
            <a:ext cx="82296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17320"/>
            <a:ext cx="8046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The house proves it. The farm scales it.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01752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accent6"/>
                </a:solidFill>
              </a:rPr>
              <a:t>Rob Nye  ·  Nye Recovery LLC</a:t>
            </a:r>
            <a:endParaRPr lang="en-US" sz="1800" dirty="0"/>
          </a:p>
          <a:p>
            <a:pPr algn="l"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nyeaisolutions@gmail.com  ·  (267) 406-5597</a:t>
            </a:r>
            <a:endParaRPr lang="en-US" sz="1800" dirty="0"/>
          </a:p>
          <a:p>
            <a:pPr algn="l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Full package: github.com/Kustom665/recoery_homestead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covery Homestead">
  <a:themeElements>
    <a:clrScheme name="Recovery Homestead">
      <a:dk1>
        <a:srgbClr val="1B211C"/>
      </a:dk1>
      <a:lt1>
        <a:srgbClr val="FFFFFF"/>
      </a:lt1>
      <a:dk2>
        <a:srgbClr val="2F5D50"/>
      </a:dk2>
      <a:lt2>
        <a:srgbClr val="EDEFE8"/>
      </a:lt2>
      <a:accent1>
        <a:srgbClr val="2F5D50"/>
      </a:accent1>
      <a:accent2>
        <a:srgbClr val="94441F"/>
      </a:accent2>
      <a:accent3>
        <a:srgbClr val="7C8A7E"/>
      </a:accent3>
      <a:accent4>
        <a:srgbClr val="43663A"/>
      </a:accent4>
      <a:accent5>
        <a:srgbClr val="B7BCB0"/>
      </a:accent5>
      <a:accent6>
        <a:srgbClr val="E3EADD"/>
      </a:accent6>
      <a:hlink>
        <a:srgbClr val="2F5D50"/>
      </a:hlink>
      <a:folHlink>
        <a:srgbClr val="7C8A7E"/>
      </a:folHlink>
    </a:clrScheme>
    <a:fontScheme name="Recovery Homestead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Nye Recovery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Recovery Homestead</dc:title>
  <dc:subject>Investor and seller-finance brief for the year-two farmhouse</dc:subject>
  <dc:creator>Rob Nye</dc:creator>
  <cp:lastModifiedBy>Rob Nye</cp:lastModifiedBy>
  <cp:revision>1</cp:revision>
  <dcterms:created xsi:type="dcterms:W3CDTF">2026-10-23T10:35:14Z</dcterms:created>
  <dcterms:modified xsi:type="dcterms:W3CDTF">2026-10-23T10:35:14Z</dcterms:modified>
</cp:coreProperties>
</file>